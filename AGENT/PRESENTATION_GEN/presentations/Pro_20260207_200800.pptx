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lumMod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926080"/>
            <a:ext cx="2286000" cy="635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FFFFFF"/>
                </a:solidFill>
                <a:latin typeface="Montserrat"/>
              </a:defRPr>
            </a:pPr>
            <a:r>
              <a:t>UNLOCK YOUR POTENTIAL WITH GENERATIVE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5A623"/>
                </a:solidFill>
                <a:latin typeface="Roboto"/>
              </a:defRPr>
            </a:pPr>
            <a:r>
              <a:t>Your New Study Companion for Academic Excellence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5A623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50E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904" y="0"/>
            <a:ext cx="6089904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731520"/>
            <a:ext cx="63500" cy="914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5029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Montserrat"/>
              </a:defRPr>
            </a:pPr>
            <a:r>
              <a:t>What is Generative AI?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200">
                <a:solidFill>
                  <a:srgbClr val="E6E6E6"/>
                </a:solidFill>
                <a:latin typeface="Roboto"/>
              </a:defRPr>
            </a:pPr>
            <a:r>
              <a:t>-&gt; AI that can produce new content: text, images, code, music.</a:t>
            </a:r>
          </a:p>
          <a:p>
            <a:pPr>
              <a:spcBef>
                <a:spcPts val="1600"/>
              </a:spcBef>
              <a:defRPr sz="2200">
                <a:solidFill>
                  <a:srgbClr val="E6E6E6"/>
                </a:solidFill>
                <a:latin typeface="Roboto"/>
              </a:defRPr>
            </a:pPr>
            <a:r>
              <a:t>-&gt; Learns from vast amounts of data to understand patterns and styles.</a:t>
            </a:r>
          </a:p>
          <a:p>
            <a:pPr>
              <a:spcBef>
                <a:spcPts val="1600"/>
              </a:spcBef>
              <a:defRPr sz="2200">
                <a:solidFill>
                  <a:srgbClr val="E6E6E6"/>
                </a:solidFill>
                <a:latin typeface="Roboto"/>
              </a:defRPr>
            </a:pPr>
            <a:r>
              <a:t>-&gt; Acts like a creative assistant, not just an information retriever.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5A623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4A90E2"/>
                </a:solidFill>
                <a:latin typeface="Montserrat"/>
              </a:defRPr>
            </a:pPr>
            <a:r>
              <a:t>The Hurdles of Traditional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531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5A623"/>
                </a:solidFill>
                <a:latin typeface="Roboto"/>
              </a:defRPr>
            </a:pPr>
            <a:r>
              <a:t>Are these familiar struggles?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5A623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50E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904" y="0"/>
            <a:ext cx="6089904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731520"/>
            <a:ext cx="63500" cy="914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5029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Montserrat"/>
              </a:defRPr>
            </a:pPr>
            <a:r>
              <a:t>AI: Your Smart Study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200">
                <a:solidFill>
                  <a:srgbClr val="E6E6E6"/>
                </a:solidFill>
                <a:latin typeface="Roboto"/>
              </a:defRPr>
            </a:pPr>
            <a:r>
              <a:t>-&gt; Summarize Complex Texts: Get key insights in seconds.</a:t>
            </a:r>
          </a:p>
          <a:p>
            <a:pPr>
              <a:spcBef>
                <a:spcPts val="1600"/>
              </a:spcBef>
              <a:defRPr sz="2200">
                <a:solidFill>
                  <a:srgbClr val="E6E6E6"/>
                </a:solidFill>
                <a:latin typeface="Roboto"/>
              </a:defRPr>
            </a:pPr>
            <a:r>
              <a:t>-&gt; Brainstorm Ideas: Generate outlines, concepts, and creative prompts.</a:t>
            </a:r>
          </a:p>
          <a:p>
            <a:pPr>
              <a:spcBef>
                <a:spcPts val="1600"/>
              </a:spcBef>
              <a:defRPr sz="2200">
                <a:solidFill>
                  <a:srgbClr val="E6E6E6"/>
                </a:solidFill>
                <a:latin typeface="Roboto"/>
              </a:defRPr>
            </a:pPr>
            <a:r>
              <a:t>-&gt; Personalized Learning Paths: Tailored explanations and practice questions.</a:t>
            </a:r>
          </a:p>
          <a:p>
            <a:pPr>
              <a:spcBef>
                <a:spcPts val="1600"/>
              </a:spcBef>
              <a:defRPr sz="2200">
                <a:solidFill>
                  <a:srgbClr val="E6E6E6"/>
                </a:solidFill>
                <a:latin typeface="Roboto"/>
              </a:defRPr>
            </a:pPr>
            <a:r>
              <a:t>-&gt; Language &amp; Code Assistance: Improve writing, translate, debug code.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5A623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4A90E2"/>
                </a:solidFill>
                <a:latin typeface="Montserrat"/>
              </a:defRPr>
            </a:pPr>
            <a:r>
              <a:t>Essential AI Tools for Every Student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51560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2560320" cy="3200400"/>
          </a:xfrm>
          <a:prstGeom prst="rect">
            <a:avLst/>
          </a:prstGeom>
          <a:solidFill>
            <a:srgbClr val="50E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A623"/>
                </a:solidFill>
                <a:latin typeface="Montserrat"/>
              </a:defRPr>
            </a:pPr>
            <a:r>
              <a:t>Text Generation (e.g., ChatGPT)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8C8C8"/>
                </a:solidFill>
                <a:latin typeface="Roboto"/>
              </a:defRPr>
            </a:pPr>
            <a:r>
              <a:t>Essay drafts, creative writing, summaries.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2011680"/>
            <a:ext cx="2560320" cy="3200400"/>
          </a:xfrm>
          <a:prstGeom prst="rect">
            <a:avLst/>
          </a:prstGeom>
          <a:solidFill>
            <a:srgbClr val="50E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219456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A623"/>
                </a:solidFill>
                <a:latin typeface="Montserrat"/>
              </a:defRPr>
            </a:pPr>
            <a:r>
              <a:t>Image Generation (e.g., Midjourney)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2608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8C8C8"/>
                </a:solidFill>
                <a:latin typeface="Roboto"/>
              </a:defRPr>
            </a:pPr>
            <a:r>
              <a:t>Visual aids, presentation graphics.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2011680"/>
            <a:ext cx="2560320" cy="3200400"/>
          </a:xfrm>
          <a:prstGeom prst="rect">
            <a:avLst/>
          </a:prstGeom>
          <a:solidFill>
            <a:srgbClr val="50E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219456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A623"/>
                </a:solidFill>
                <a:latin typeface="Montserrat"/>
              </a:defRPr>
            </a:pPr>
            <a:r>
              <a:t>Code Assistants (e.g., GitHub Copilot)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92608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8C8C8"/>
                </a:solidFill>
                <a:latin typeface="Roboto"/>
              </a:defRPr>
            </a:pPr>
            <a:r>
              <a:t>Debugging, code completion.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09760" y="2011680"/>
            <a:ext cx="2560320" cy="3200400"/>
          </a:xfrm>
          <a:prstGeom prst="rect">
            <a:avLst/>
          </a:prstGeom>
          <a:solidFill>
            <a:srgbClr val="50E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19456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A623"/>
                </a:solidFill>
                <a:latin typeface="Montserrat"/>
              </a:defRPr>
            </a:pPr>
            <a:r>
              <a:t>Note-Taking AI (e.g., Otter.ai)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292608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8C8C8"/>
                </a:solidFill>
                <a:latin typeface="Roboto"/>
              </a:defRPr>
            </a:pPr>
            <a:r>
              <a:t>Transcribe lectures, summarize meetings.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5A623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A90E2"/>
                </a:solidFill>
                <a:latin typeface="Montserrat"/>
              </a:defRPr>
            </a:pPr>
            <a:r>
              <a:t>Your AI-Powered Study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00400"/>
            <a:ext cx="10058400" cy="50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034540" y="3063240"/>
            <a:ext cx="274320" cy="2743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03020" y="384048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DCDCDC"/>
                </a:solidFill>
                <a:latin typeface="Roboto"/>
              </a:defRPr>
            </a:pPr>
            <a:r>
              <a:t>Phase 1: Research &amp; Brainstorming - Use AI to find sources, generate initial ideas, and create outlines.</a:t>
            </a:r>
          </a:p>
        </p:txBody>
      </p:sp>
      <p:sp>
        <p:nvSpPr>
          <p:cNvPr id="7" name="Oval 6"/>
          <p:cNvSpPr/>
          <p:nvPr/>
        </p:nvSpPr>
        <p:spPr>
          <a:xfrm>
            <a:off x="4549140" y="3063240"/>
            <a:ext cx="274320" cy="2743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17620" y="384048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DCDCDC"/>
                </a:solidFill>
                <a:latin typeface="Roboto"/>
              </a:defRPr>
            </a:pPr>
            <a:r>
              <a:t>Phase 2: Drafting &amp; Writing - Leverage AI for sentence structure, vocabulary, and grammar checks.</a:t>
            </a:r>
          </a:p>
        </p:txBody>
      </p:sp>
      <p:sp>
        <p:nvSpPr>
          <p:cNvPr id="9" name="Oval 8"/>
          <p:cNvSpPr/>
          <p:nvPr/>
        </p:nvSpPr>
        <p:spPr>
          <a:xfrm>
            <a:off x="7063740" y="3063240"/>
            <a:ext cx="274320" cy="2743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2220" y="384048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DCDCDC"/>
                </a:solidFill>
                <a:latin typeface="Roboto"/>
              </a:defRPr>
            </a:pPr>
            <a:r>
              <a:t>Phase 3: Review &amp; Refinement - Ask AI to identify areas for improvement, clarify arguments, and proofread.</a:t>
            </a:r>
          </a:p>
        </p:txBody>
      </p:sp>
      <p:sp>
        <p:nvSpPr>
          <p:cNvPr id="11" name="Oval 10"/>
          <p:cNvSpPr/>
          <p:nvPr/>
        </p:nvSpPr>
        <p:spPr>
          <a:xfrm>
            <a:off x="9578340" y="3063240"/>
            <a:ext cx="274320" cy="2743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46820" y="384048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DCDCDC"/>
                </a:solidFill>
                <a:latin typeface="Roboto"/>
              </a:defRPr>
            </a:pPr>
            <a:r>
              <a:t>Phase 4: Presentation &amp; Synthesis - Create visual aids or summarize key takeaways with AI assistance.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5A623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A90E2"/>
                </a:solidFill>
                <a:latin typeface="Montserrat"/>
              </a:defRPr>
            </a:pPr>
            <a:r>
              <a:t>Traditional vs. AI-Enhanced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5303520" cy="4572000"/>
          </a:xfrm>
          <a:prstGeom prst="rect">
            <a:avLst/>
          </a:prstGeom>
          <a:solidFill>
            <a:srgbClr val="50E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303520" cy="4572000"/>
          </a:xfrm>
          <a:prstGeom prst="rect">
            <a:avLst/>
          </a:prstGeom>
          <a:solidFill>
            <a:srgbClr val="F5A623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  <a:latin typeface="Roboto"/>
              </a:defRPr>
            </a:pPr>
            <a:r>
              <a:t>-&gt; Research: Manual search &amp; read vs. AI-summarized insights &amp; concept mapping.</a:t>
            </a:r>
          </a:p>
          <a:p>
            <a:pPr>
              <a:spcBef>
                <a:spcPts val="1200"/>
              </a:spcBef>
              <a:defRPr sz="1800">
                <a:solidFill>
                  <a:srgbClr val="DCDCDC"/>
                </a:solidFill>
                <a:latin typeface="Roboto"/>
              </a:defRPr>
            </a:pPr>
            <a:r>
              <a:t>-&gt; Writing: Blank page &amp; slow drafting vs. AI-generated outlines &amp; rapid content generation.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0116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28283C"/>
                </a:solidFill>
                <a:latin typeface="Roboto"/>
              </a:defRPr>
            </a:pPr>
            <a:r>
              <a:t>-&gt; Revision: Limited self-correction vs. AI-powered grammar, style, and clarity feedback.</a:t>
            </a:r>
          </a:p>
          <a:p>
            <a:pPr>
              <a:spcBef>
                <a:spcPts val="1200"/>
              </a:spcBef>
              <a:defRPr sz="1800">
                <a:solidFill>
                  <a:srgbClr val="28283C"/>
                </a:solidFill>
                <a:latin typeface="Roboto"/>
              </a:defRPr>
            </a:pPr>
            <a:r>
              <a:t>-&gt; Creativity: Stifled by routine vs. Boosted by AI brainstorming &amp; novel idea generation.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5A623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50E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904" y="0"/>
            <a:ext cx="6089904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731520"/>
            <a:ext cx="63500" cy="914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5029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Montserrat"/>
              </a:defRPr>
            </a:pPr>
            <a:r>
              <a:t>Navigate AI Responsibly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200">
                <a:solidFill>
                  <a:srgbClr val="E6E6E6"/>
                </a:solidFill>
                <a:latin typeface="Roboto"/>
              </a:defRPr>
            </a:pPr>
            <a:r>
              <a:t>-&gt; AI as a Tool, Not a Replacement: Use it to assist, not to do the work for you.</a:t>
            </a:r>
          </a:p>
          <a:p>
            <a:pPr>
              <a:spcBef>
                <a:spcPts val="1600"/>
              </a:spcBef>
              <a:defRPr sz="2200">
                <a:solidFill>
                  <a:srgbClr val="E6E6E6"/>
                </a:solidFill>
                <a:latin typeface="Roboto"/>
              </a:defRPr>
            </a:pPr>
            <a:r>
              <a:t>-&gt; Fact-Check Everything: AI can generate inaccuracies; always verify information.</a:t>
            </a:r>
          </a:p>
          <a:p>
            <a:pPr>
              <a:spcBef>
                <a:spcPts val="1600"/>
              </a:spcBef>
              <a:defRPr sz="2200">
                <a:solidFill>
                  <a:srgbClr val="E6E6E6"/>
                </a:solidFill>
                <a:latin typeface="Roboto"/>
              </a:defRPr>
            </a:pPr>
            <a:r>
              <a:t>-&gt; Cite Your Sources: Acknowledge when AI has been used in your process.</a:t>
            </a:r>
          </a:p>
          <a:p>
            <a:pPr>
              <a:spcBef>
                <a:spcPts val="1600"/>
              </a:spcBef>
              <a:defRPr sz="2200">
                <a:solidFill>
                  <a:srgbClr val="E6E6E6"/>
                </a:solidFill>
                <a:latin typeface="Roboto"/>
              </a:defRPr>
            </a:pPr>
            <a:r>
              <a:t>-&gt; Understand Your University's Policies: Be aware of guidelines on AI use.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5A623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4A90E2"/>
                </a:solidFill>
                <a:latin typeface="Montserrat"/>
              </a:defRPr>
            </a:pPr>
            <a:r>
              <a:t>The Future of Learning is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531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5A623"/>
                </a:solidFill>
                <a:latin typeface="Roboto"/>
              </a:defRPr>
            </a:pPr>
            <a:r>
              <a:t>Embrace a new era of personalized, powerful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5A623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lumMod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926080"/>
            <a:ext cx="2286000" cy="635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FFFFFF"/>
                </a:solidFill>
                <a:latin typeface="Montserrat"/>
              </a:defRPr>
            </a:pPr>
            <a:r>
              <a:t>START YOUR AI-ENHANCED JOURNEY TODAY!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5A623"/>
                </a:solidFill>
                <a:latin typeface="Roboto"/>
              </a:defRPr>
            </a:pPr>
            <a:r>
              <a:t>Explore, experiment, and excel in your studies.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5A623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
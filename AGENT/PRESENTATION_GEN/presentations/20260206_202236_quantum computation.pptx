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entering a new era of computing, one that moves beyond the classical bits of 0s and 1s. Quantum computation leverages the strange rules of quantum mechanics to tackle problems previously considered intractable.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heart of quantum computing are qubits. Unlike classical bits, qubits can exist in a superposition of both 0 and 1 at the same time, allowing for a massive increase in information storage and processing capability.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Entanglement is another mind-bending quantum phenomenon where two or more qubits become linked, sharing the same fate regardless of distance. This 'spooky action' is a crucial resource for quantum algorithms.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interference allows us to manipulate the probabilities of different outcomes. By carefully constructing algorithms, we can amplify the probability of correct solutions while diminishing incorrect ones, effectively guiding the quantum system to the right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Early quantum algorithms like Shor's and Grover's demonstrated the immense potential. Shor's algorithm could break modern encryption, and Grover's could significantly speed up database searches, showcasing quantum's disruptive power.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applications of quantum computing span across numerous fields. From simulating complex molecules for new drugs and materials to optimizing financial models and enhancing AI, its impact will be profound.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Despite its promise, quantum computing faces significant challenges. Qubits are fragile and prone to decoherence, requiring sophisticated error correction. Building stable, large-scale quantum computers remains a monumental engineering task.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computation promises to usher in a truly revolutionary era, redefining what's possible in science, technology, and industry. It will fundamentally change how we approach the most complex problems facing humanity.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I'm happy to answer any questions you might have about quantum computation.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926080"/>
            <a:ext cx="1828800" cy="5080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914400"/>
          </a:xfrm>
          <a:prstGeom prst="rect">
            <a:avLst/>
          </a:prstGeom>
          <a:noFill/>
        </p:spPr>
        <p:txBody>
          <a:bodyPr wrap="none">
            <a:spAutoFit/>
          </a:bodyPr>
          <a:lstStyle/>
          <a:p>
            <a:pPr>
              <a:defRPr sz="6400" b="1">
                <a:solidFill>
                  <a:srgbClr val="FFFFFF"/>
                </a:solidFill>
              </a:defRPr>
            </a:pPr>
            <a:r>
              <a:t>QUANTUM UNLEASHED</a:t>
            </a:r>
          </a:p>
        </p:txBody>
      </p:sp>
      <p:sp>
        <p:nvSpPr>
          <p:cNvPr id="6" name="TextBox 5"/>
          <p:cNvSpPr txBox="1"/>
          <p:nvPr/>
        </p:nvSpPr>
        <p:spPr>
          <a:xfrm>
            <a:off x="914400" y="3200400"/>
            <a:ext cx="10058400" cy="731520"/>
          </a:xfrm>
          <a:prstGeom prst="rect">
            <a:avLst/>
          </a:prstGeom>
          <a:noFill/>
        </p:spPr>
        <p:txBody>
          <a:bodyPr wrap="none">
            <a:spAutoFit/>
          </a:bodyPr>
          <a:lstStyle/>
          <a:p>
            <a:pPr>
              <a:defRPr sz="2800">
                <a:solidFill>
                  <a:srgbClr val="00B4FF"/>
                </a:solidFill>
              </a:defRPr>
            </a:pPr>
            <a:r>
              <a:t>Beyond Classical Limits</a:t>
            </a:r>
          </a:p>
        </p:txBody>
      </p:sp>
      <p:sp>
        <p:nvSpPr>
          <p:cNvPr id="7" name="TextBox 6"/>
          <p:cNvSpPr txBox="1"/>
          <p:nvPr/>
        </p:nvSpPr>
        <p:spPr>
          <a:xfrm>
            <a:off x="914400" y="5486400"/>
            <a:ext cx="10058400" cy="457200"/>
          </a:xfrm>
          <a:prstGeom prst="rect">
            <a:avLst/>
          </a:prstGeom>
          <a:noFill/>
        </p:spPr>
        <p:txBody>
          <a:bodyPr wrap="none">
            <a:spAutoFit/>
          </a:bodyPr>
          <a:lstStyle/>
          <a:p>
            <a:pPr>
              <a:defRPr sz="1800">
                <a:solidFill>
                  <a:srgbClr val="C8C8C8"/>
                </a:solidFill>
              </a:defRPr>
            </a:pPr>
            <a:r>
              <a:t>Presented by Sougata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6858000" cy="6858000"/>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1" descr="image.jpg"/>
          <p:cNvPicPr>
            <a:picLocks noChangeAspect="1"/>
          </p:cNvPicPr>
          <p:nvPr/>
        </p:nvPicPr>
        <p:blipFill>
          <a:blip r:embed="rId2"/>
          <a:stretch>
            <a:fillRect/>
          </a:stretch>
        </p:blipFill>
        <p:spPr>
          <a:xfrm>
            <a:off x="6400800" y="0"/>
            <a:ext cx="5790895" cy="6858000"/>
          </a:xfrm>
          <a:prstGeom prst="rect">
            <a:avLst/>
          </a:prstGeom>
        </p:spPr>
      </p:pic>
      <p:sp>
        <p:nvSpPr>
          <p:cNvPr id="4" name="Rectangle 3"/>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What is Quantum?</a:t>
            </a:r>
          </a:p>
        </p:txBody>
      </p:sp>
      <p:sp>
        <p:nvSpPr>
          <p:cNvPr id="6" name="TextBox 5"/>
          <p:cNvSpPr txBox="1"/>
          <p:nvPr/>
        </p:nvSpPr>
        <p:spPr>
          <a:xfrm>
            <a:off x="731520" y="2011680"/>
            <a:ext cx="5486400" cy="4114800"/>
          </a:xfrm>
          <a:prstGeom prst="rect">
            <a:avLst/>
          </a:prstGeom>
          <a:noFill/>
        </p:spPr>
        <p:txBody>
          <a:bodyPr wrap="square">
            <a:spAutoFit/>
          </a:bodyPr>
          <a:lstStyle/>
          <a:p>
            <a:pPr>
              <a:spcBef>
                <a:spcPts val="2000"/>
              </a:spcBef>
              <a:spcAft>
                <a:spcPts val="800"/>
              </a:spcAft>
              <a:defRPr sz="2600">
                <a:solidFill>
                  <a:srgbClr val="E6E6E6"/>
                </a:solidFill>
              </a:defRPr>
            </a:pPr>
            <a:r>
              <a:t>▸ New computational paradigm</a:t>
            </a:r>
          </a:p>
          <a:p>
            <a:pPr>
              <a:spcBef>
                <a:spcPts val="2000"/>
              </a:spcBef>
              <a:spcAft>
                <a:spcPts val="800"/>
              </a:spcAft>
              <a:defRPr sz="2600">
                <a:solidFill>
                  <a:srgbClr val="E6E6E6"/>
                </a:solidFill>
              </a:defRPr>
            </a:pPr>
            <a:r>
              <a:t>▸ Harnesses quantum mechanics</a:t>
            </a:r>
          </a:p>
          <a:p>
            <a:pPr>
              <a:spcBef>
                <a:spcPts val="2000"/>
              </a:spcBef>
              <a:spcAft>
                <a:spcPts val="800"/>
              </a:spcAft>
              <a:defRPr sz="2600">
                <a:solidFill>
                  <a:srgbClr val="E6E6E6"/>
                </a:solidFill>
              </a:defRPr>
            </a:pPr>
            <a:r>
              <a:t>▸ Solves impossible problems</a:t>
            </a:r>
          </a:p>
        </p:txBody>
      </p:sp>
      <p:sp>
        <p:nvSpPr>
          <p:cNvPr id="7" name="TextBox 6"/>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41E30"/>
              </a:gs>
              <a:gs pos="100000">
                <a:srgbClr val="243B55"/>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Qubits: New Bits</a:t>
            </a:r>
          </a:p>
        </p:txBody>
      </p:sp>
      <p:sp>
        <p:nvSpPr>
          <p:cNvPr id="5" name="TextBox 4"/>
          <p:cNvSpPr txBox="1"/>
          <p:nvPr/>
        </p:nvSpPr>
        <p:spPr>
          <a:xfrm>
            <a:off x="731520" y="2011680"/>
            <a:ext cx="5486400" cy="4114800"/>
          </a:xfrm>
          <a:prstGeom prst="rect">
            <a:avLst/>
          </a:prstGeom>
          <a:noFill/>
        </p:spPr>
        <p:txBody>
          <a:bodyPr wrap="square">
            <a:spAutoFit/>
          </a:bodyPr>
          <a:lstStyle/>
          <a:p>
            <a:pPr>
              <a:spcBef>
                <a:spcPts val="2000"/>
              </a:spcBef>
              <a:spcAft>
                <a:spcPts val="800"/>
              </a:spcAft>
              <a:defRPr sz="2600">
                <a:solidFill>
                  <a:srgbClr val="E6E6E6"/>
                </a:solidFill>
              </a:defRPr>
            </a:pPr>
            <a:r>
              <a:t>▸ Superposition: states simultaneously</a:t>
            </a:r>
          </a:p>
          <a:p>
            <a:pPr>
              <a:spcBef>
                <a:spcPts val="2000"/>
              </a:spcBef>
              <a:spcAft>
                <a:spcPts val="800"/>
              </a:spcAft>
              <a:defRPr sz="2600">
                <a:solidFill>
                  <a:srgbClr val="E6E6E6"/>
                </a:solidFill>
              </a:defRPr>
            </a:pPr>
            <a:r>
              <a:t>▸ Not just 0 or 1</a:t>
            </a:r>
          </a:p>
          <a:p>
            <a:pPr>
              <a:spcBef>
                <a:spcPts val="2000"/>
              </a:spcBef>
              <a:spcAft>
                <a:spcPts val="800"/>
              </a:spcAft>
              <a:defRPr sz="2600">
                <a:solidFill>
                  <a:srgbClr val="E6E6E6"/>
                </a:solidFill>
              </a:defRPr>
            </a:pPr>
            <a:r>
              <a:t>▸ Exponential information density</a:t>
            </a:r>
          </a:p>
        </p:txBody>
      </p:sp>
      <p:sp>
        <p:nvSpPr>
          <p:cNvPr id="6" name="TextBox 5"/>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6858000" cy="6858000"/>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1" descr="image.jpg"/>
          <p:cNvPicPr>
            <a:picLocks noChangeAspect="1"/>
          </p:cNvPicPr>
          <p:nvPr/>
        </p:nvPicPr>
        <p:blipFill>
          <a:blip r:embed="rId2"/>
          <a:stretch>
            <a:fillRect/>
          </a:stretch>
        </p:blipFill>
        <p:spPr>
          <a:xfrm>
            <a:off x="6400800" y="0"/>
            <a:ext cx="5790895" cy="6858000"/>
          </a:xfrm>
          <a:prstGeom prst="rect">
            <a:avLst/>
          </a:prstGeom>
        </p:spPr>
      </p:pic>
      <p:sp>
        <p:nvSpPr>
          <p:cNvPr id="4" name="Rectangle 3"/>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Entanglement: Connected</a:t>
            </a:r>
          </a:p>
        </p:txBody>
      </p:sp>
      <p:sp>
        <p:nvSpPr>
          <p:cNvPr id="6" name="TextBox 5"/>
          <p:cNvSpPr txBox="1"/>
          <p:nvPr/>
        </p:nvSpPr>
        <p:spPr>
          <a:xfrm>
            <a:off x="731520" y="2011680"/>
            <a:ext cx="5486400" cy="4114800"/>
          </a:xfrm>
          <a:prstGeom prst="rect">
            <a:avLst/>
          </a:prstGeom>
          <a:noFill/>
        </p:spPr>
        <p:txBody>
          <a:bodyPr wrap="square">
            <a:spAutoFit/>
          </a:bodyPr>
          <a:lstStyle/>
          <a:p>
            <a:pPr>
              <a:spcBef>
                <a:spcPts val="2000"/>
              </a:spcBef>
              <a:spcAft>
                <a:spcPts val="800"/>
              </a:spcAft>
              <a:defRPr sz="2600">
                <a:solidFill>
                  <a:srgbClr val="E6E6E6"/>
                </a:solidFill>
              </a:defRPr>
            </a:pPr>
            <a:r>
              <a:t>▸ Quantum link, instant influence</a:t>
            </a:r>
          </a:p>
          <a:p>
            <a:pPr>
              <a:spcBef>
                <a:spcPts val="2000"/>
              </a:spcBef>
              <a:spcAft>
                <a:spcPts val="800"/>
              </a:spcAft>
              <a:defRPr sz="2600">
                <a:solidFill>
                  <a:srgbClr val="E6E6E6"/>
                </a:solidFill>
              </a:defRPr>
            </a:pPr>
            <a:r>
              <a:t>▸ Spooky action at distance</a:t>
            </a:r>
          </a:p>
          <a:p>
            <a:pPr>
              <a:spcBef>
                <a:spcPts val="2000"/>
              </a:spcBef>
              <a:spcAft>
                <a:spcPts val="800"/>
              </a:spcAft>
              <a:defRPr sz="2600">
                <a:solidFill>
                  <a:srgbClr val="E6E6E6"/>
                </a:solidFill>
              </a:defRPr>
            </a:pPr>
            <a:r>
              <a:t>▸ Powerful computational resource</a:t>
            </a:r>
          </a:p>
        </p:txBody>
      </p:sp>
      <p:sp>
        <p:nvSpPr>
          <p:cNvPr id="7" name="TextBox 6"/>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91932"/>
              </a:gs>
              <a:gs pos="100000">
                <a:srgbClr val="323264"/>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Interference: Probabilities</a:t>
            </a:r>
          </a:p>
        </p:txBody>
      </p:sp>
      <p:sp>
        <p:nvSpPr>
          <p:cNvPr id="5" name="TextBox 4"/>
          <p:cNvSpPr txBox="1"/>
          <p:nvPr/>
        </p:nvSpPr>
        <p:spPr>
          <a:xfrm>
            <a:off x="731520" y="2011680"/>
            <a:ext cx="5486400" cy="4114800"/>
          </a:xfrm>
          <a:prstGeom prst="rect">
            <a:avLst/>
          </a:prstGeom>
          <a:noFill/>
        </p:spPr>
        <p:txBody>
          <a:bodyPr wrap="square">
            <a:spAutoFit/>
          </a:bodyPr>
          <a:lstStyle/>
          <a:p>
            <a:pPr>
              <a:spcBef>
                <a:spcPts val="2000"/>
              </a:spcBef>
              <a:spcAft>
                <a:spcPts val="800"/>
              </a:spcAft>
              <a:defRPr sz="2600">
                <a:solidFill>
                  <a:srgbClr val="E6E6E6"/>
                </a:solidFill>
              </a:defRPr>
            </a:pPr>
            <a:r>
              <a:t>▸ Amplify correct answers</a:t>
            </a:r>
          </a:p>
          <a:p>
            <a:pPr>
              <a:spcBef>
                <a:spcPts val="2000"/>
              </a:spcBef>
              <a:spcAft>
                <a:spcPts val="800"/>
              </a:spcAft>
              <a:defRPr sz="2600">
                <a:solidFill>
                  <a:srgbClr val="E6E6E6"/>
                </a:solidFill>
              </a:defRPr>
            </a:pPr>
            <a:r>
              <a:t>▸ Cancel incorrect ones</a:t>
            </a:r>
          </a:p>
          <a:p>
            <a:pPr>
              <a:spcBef>
                <a:spcPts val="2000"/>
              </a:spcBef>
              <a:spcAft>
                <a:spcPts val="800"/>
              </a:spcAft>
              <a:defRPr sz="2600">
                <a:solidFill>
                  <a:srgbClr val="E6E6E6"/>
                </a:solidFill>
              </a:defRPr>
            </a:pPr>
            <a:r>
              <a:t>▸ Guiding quantum paths</a:t>
            </a:r>
          </a:p>
        </p:txBody>
      </p:sp>
      <p:sp>
        <p:nvSpPr>
          <p:cNvPr id="6" name="TextBox 5"/>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6858000"/>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Algorithm Breakthroughs</a:t>
            </a:r>
          </a:p>
        </p:txBody>
      </p:sp>
      <p:sp>
        <p:nvSpPr>
          <p:cNvPr id="5" name="TextBox 4"/>
          <p:cNvSpPr txBox="1"/>
          <p:nvPr/>
        </p:nvSpPr>
        <p:spPr>
          <a:xfrm>
            <a:off x="731520" y="2011680"/>
            <a:ext cx="5486400" cy="4114800"/>
          </a:xfrm>
          <a:prstGeom prst="rect">
            <a:avLst/>
          </a:prstGeom>
          <a:noFill/>
        </p:spPr>
        <p:txBody>
          <a:bodyPr wrap="square">
            <a:spAutoFit/>
          </a:bodyPr>
          <a:lstStyle/>
          <a:p>
            <a:pPr>
              <a:spcBef>
                <a:spcPts val="2000"/>
              </a:spcBef>
              <a:spcAft>
                <a:spcPts val="800"/>
              </a:spcAft>
              <a:defRPr sz="2600">
                <a:solidFill>
                  <a:srgbClr val="E6E6E6"/>
                </a:solidFill>
              </a:defRPr>
            </a:pPr>
            <a:r>
              <a:t>▸ Shor's: Factor large numbers</a:t>
            </a:r>
          </a:p>
          <a:p>
            <a:pPr>
              <a:spcBef>
                <a:spcPts val="2000"/>
              </a:spcBef>
              <a:spcAft>
                <a:spcPts val="800"/>
              </a:spcAft>
              <a:defRPr sz="2600">
                <a:solidFill>
                  <a:srgbClr val="E6E6E6"/>
                </a:solidFill>
              </a:defRPr>
            </a:pPr>
            <a:r>
              <a:t>▸ Grover's: Search databases fast</a:t>
            </a:r>
          </a:p>
          <a:p>
            <a:pPr>
              <a:spcBef>
                <a:spcPts val="2000"/>
              </a:spcBef>
              <a:spcAft>
                <a:spcPts val="800"/>
              </a:spcAft>
              <a:defRPr sz="2600">
                <a:solidFill>
                  <a:srgbClr val="E6E6E6"/>
                </a:solidFill>
              </a:defRPr>
            </a:pPr>
            <a:r>
              <a:t>▸ Unlocks new capabilities</a:t>
            </a:r>
          </a:p>
        </p:txBody>
      </p:sp>
      <p:sp>
        <p:nvSpPr>
          <p:cNvPr id="6" name="TextBox 5"/>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F0F23"/>
              </a:gs>
              <a:gs pos="100000">
                <a:srgbClr val="2D2D55"/>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Transformative Applications</a:t>
            </a:r>
          </a:p>
        </p:txBody>
      </p:sp>
      <p:sp>
        <p:nvSpPr>
          <p:cNvPr id="5" name="TextBox 4"/>
          <p:cNvSpPr txBox="1"/>
          <p:nvPr/>
        </p:nvSpPr>
        <p:spPr>
          <a:xfrm>
            <a:off x="731520" y="2011680"/>
            <a:ext cx="5486400" cy="4114800"/>
          </a:xfrm>
          <a:prstGeom prst="rect">
            <a:avLst/>
          </a:prstGeom>
          <a:noFill/>
        </p:spPr>
        <p:txBody>
          <a:bodyPr wrap="square">
            <a:spAutoFit/>
          </a:bodyPr>
          <a:lstStyle/>
          <a:p>
            <a:pPr>
              <a:spcBef>
                <a:spcPts val="2000"/>
              </a:spcBef>
              <a:spcAft>
                <a:spcPts val="800"/>
              </a:spcAft>
              <a:defRPr sz="2600">
                <a:solidFill>
                  <a:srgbClr val="E6E6E6"/>
                </a:solidFill>
              </a:defRPr>
            </a:pPr>
            <a:r>
              <a:t>▸ Drug discovery, materials</a:t>
            </a:r>
          </a:p>
          <a:p>
            <a:pPr>
              <a:spcBef>
                <a:spcPts val="2000"/>
              </a:spcBef>
              <a:spcAft>
                <a:spcPts val="800"/>
              </a:spcAft>
              <a:defRPr sz="2600">
                <a:solidFill>
                  <a:srgbClr val="E6E6E6"/>
                </a:solidFill>
              </a:defRPr>
            </a:pPr>
            <a:r>
              <a:t>▸ Financial modeling, AI</a:t>
            </a:r>
          </a:p>
          <a:p>
            <a:pPr>
              <a:spcBef>
                <a:spcPts val="2000"/>
              </a:spcBef>
              <a:spcAft>
                <a:spcPts val="800"/>
              </a:spcAft>
              <a:defRPr sz="2600">
                <a:solidFill>
                  <a:srgbClr val="E6E6E6"/>
                </a:solidFill>
              </a:defRPr>
            </a:pPr>
            <a:r>
              <a:t>▸ Optimize complex systems</a:t>
            </a:r>
          </a:p>
        </p:txBody>
      </p:sp>
      <p:sp>
        <p:nvSpPr>
          <p:cNvPr id="6" name="TextBox 5"/>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6858000" cy="6858000"/>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1" descr="image.jpg"/>
          <p:cNvPicPr>
            <a:picLocks noChangeAspect="1"/>
          </p:cNvPicPr>
          <p:nvPr/>
        </p:nvPicPr>
        <p:blipFill>
          <a:blip r:embed="rId2"/>
          <a:stretch>
            <a:fillRect/>
          </a:stretch>
        </p:blipFill>
        <p:spPr>
          <a:xfrm>
            <a:off x="6400800" y="0"/>
            <a:ext cx="5790895" cy="6858000"/>
          </a:xfrm>
          <a:prstGeom prst="rect">
            <a:avLst/>
          </a:prstGeom>
        </p:spPr>
      </p:pic>
      <p:sp>
        <p:nvSpPr>
          <p:cNvPr id="4" name="Rectangle 3"/>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Hurdles &amp; Horizon</a:t>
            </a:r>
          </a:p>
        </p:txBody>
      </p:sp>
      <p:sp>
        <p:nvSpPr>
          <p:cNvPr id="6" name="TextBox 5"/>
          <p:cNvSpPr txBox="1"/>
          <p:nvPr/>
        </p:nvSpPr>
        <p:spPr>
          <a:xfrm>
            <a:off x="731520" y="2011680"/>
            <a:ext cx="5486400" cy="4114800"/>
          </a:xfrm>
          <a:prstGeom prst="rect">
            <a:avLst/>
          </a:prstGeom>
          <a:noFill/>
        </p:spPr>
        <p:txBody>
          <a:bodyPr wrap="square">
            <a:spAutoFit/>
          </a:bodyPr>
          <a:lstStyle/>
          <a:p>
            <a:pPr>
              <a:spcBef>
                <a:spcPts val="2000"/>
              </a:spcBef>
              <a:spcAft>
                <a:spcPts val="800"/>
              </a:spcAft>
              <a:defRPr sz="2600">
                <a:solidFill>
                  <a:srgbClr val="E6E6E6"/>
                </a:solidFill>
              </a:defRPr>
            </a:pPr>
            <a:r>
              <a:t>▸ Decoherence: fragile states</a:t>
            </a:r>
          </a:p>
          <a:p>
            <a:pPr>
              <a:spcBef>
                <a:spcPts val="2000"/>
              </a:spcBef>
              <a:spcAft>
                <a:spcPts val="800"/>
              </a:spcAft>
              <a:defRPr sz="2600">
                <a:solidFill>
                  <a:srgbClr val="E6E6E6"/>
                </a:solidFill>
              </a:defRPr>
            </a:pPr>
            <a:r>
              <a:t>▸ Error correction needed</a:t>
            </a:r>
          </a:p>
          <a:p>
            <a:pPr>
              <a:spcBef>
                <a:spcPts val="2000"/>
              </a:spcBef>
              <a:spcAft>
                <a:spcPts val="800"/>
              </a:spcAft>
              <a:defRPr sz="2600">
                <a:solidFill>
                  <a:srgbClr val="E6E6E6"/>
                </a:solidFill>
              </a:defRPr>
            </a:pPr>
            <a:r>
              <a:t>▸ Building scalable systems</a:t>
            </a:r>
          </a:p>
        </p:txBody>
      </p:sp>
      <p:sp>
        <p:nvSpPr>
          <p:cNvPr id="7" name="TextBox 6"/>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E1E1E"/>
              </a:gs>
              <a:gs pos="100000">
                <a:srgbClr val="3C3C50"/>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Future Unlocked</a:t>
            </a:r>
          </a:p>
        </p:txBody>
      </p:sp>
      <p:sp>
        <p:nvSpPr>
          <p:cNvPr id="5" name="TextBox 4"/>
          <p:cNvSpPr txBox="1"/>
          <p:nvPr/>
        </p:nvSpPr>
        <p:spPr>
          <a:xfrm>
            <a:off x="731520" y="2011680"/>
            <a:ext cx="5486400" cy="4114800"/>
          </a:xfrm>
          <a:prstGeom prst="rect">
            <a:avLst/>
          </a:prstGeom>
          <a:noFill/>
        </p:spPr>
        <p:txBody>
          <a:bodyPr wrap="square">
            <a:spAutoFit/>
          </a:bodyPr>
          <a:lstStyle/>
          <a:p>
            <a:pPr>
              <a:spcBef>
                <a:spcPts val="2000"/>
              </a:spcBef>
              <a:spcAft>
                <a:spcPts val="800"/>
              </a:spcAft>
              <a:defRPr sz="2600">
                <a:solidFill>
                  <a:srgbClr val="E6E6E6"/>
                </a:solidFill>
              </a:defRPr>
            </a:pPr>
            <a:r>
              <a:t>▸ Revolutionary computing era</a:t>
            </a:r>
          </a:p>
          <a:p>
            <a:pPr>
              <a:spcBef>
                <a:spcPts val="2000"/>
              </a:spcBef>
              <a:spcAft>
                <a:spcPts val="800"/>
              </a:spcAft>
              <a:defRPr sz="2600">
                <a:solidFill>
                  <a:srgbClr val="E6E6E6"/>
                </a:solidFill>
              </a:defRPr>
            </a:pPr>
            <a:r>
              <a:t>▸ Redefine problem-solving</a:t>
            </a:r>
          </a:p>
          <a:p>
            <a:pPr>
              <a:spcBef>
                <a:spcPts val="2000"/>
              </a:spcBef>
              <a:spcAft>
                <a:spcPts val="800"/>
              </a:spcAft>
              <a:defRPr sz="2600">
                <a:solidFill>
                  <a:srgbClr val="E6E6E6"/>
                </a:solidFill>
              </a:defRPr>
            </a:pPr>
            <a:r>
              <a:t>▸ Shape our future</a:t>
            </a:r>
          </a:p>
        </p:txBody>
      </p:sp>
      <p:sp>
        <p:nvSpPr>
          <p:cNvPr id="6" name="TextBox 5"/>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6858000" cy="6858000"/>
          </a:xfrm>
          <a:prstGeom prst="rect">
            <a:avLst/>
          </a:prstGeom>
          <a:solidFill>
            <a:srgbClr val="1212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1" descr="image.jpg"/>
          <p:cNvPicPr>
            <a:picLocks noChangeAspect="1"/>
          </p:cNvPicPr>
          <p:nvPr/>
        </p:nvPicPr>
        <p:blipFill>
          <a:blip r:embed="rId2"/>
          <a:stretch>
            <a:fillRect/>
          </a:stretch>
        </p:blipFill>
        <p:spPr>
          <a:xfrm>
            <a:off x="6400800" y="0"/>
            <a:ext cx="5790895" cy="6858000"/>
          </a:xfrm>
          <a:prstGeom prst="rect">
            <a:avLst/>
          </a:prstGeom>
        </p:spPr>
      </p:pic>
      <p:sp>
        <p:nvSpPr>
          <p:cNvPr id="4" name="Rectangle 3"/>
          <p:cNvSpPr/>
          <p:nvPr/>
        </p:nvSpPr>
        <p:spPr>
          <a:xfrm>
            <a:off x="457200" y="457200"/>
            <a:ext cx="63500" cy="1097280"/>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5486400" cy="1097280"/>
          </a:xfrm>
          <a:prstGeom prst="rect">
            <a:avLst/>
          </a:prstGeom>
          <a:noFill/>
        </p:spPr>
        <p:txBody>
          <a:bodyPr wrap="none">
            <a:spAutoFit/>
          </a:bodyPr>
          <a:lstStyle/>
          <a:p>
            <a:pPr>
              <a:defRPr sz="4400" b="1">
                <a:solidFill>
                  <a:srgbClr val="FFFFFF"/>
                </a:solidFill>
              </a:defRPr>
            </a:pPr>
            <a:r>
              <a:t>Questions?</a:t>
            </a:r>
          </a:p>
        </p:txBody>
      </p:sp>
      <p:sp>
        <p:nvSpPr>
          <p:cNvPr id="6" name="TextBox 5"/>
          <p:cNvSpPr txBox="1"/>
          <p:nvPr/>
        </p:nvSpPr>
        <p:spPr>
          <a:xfrm>
            <a:off x="731520" y="2011680"/>
            <a:ext cx="5486400" cy="4114800"/>
          </a:xfrm>
          <a:prstGeom prst="rect">
            <a:avLst/>
          </a:prstGeom>
          <a:noFill/>
        </p:spPr>
        <p:txBody>
          <a:bodyPr wrap="square">
            <a:spAutoFit/>
          </a:bodyPr>
          <a:lstStyle/>
          <a:p/>
        </p:txBody>
      </p:sp>
      <p:sp>
        <p:nvSpPr>
          <p:cNvPr id="7" name="TextBox 6"/>
          <p:cNvSpPr txBox="1"/>
          <p:nvPr/>
        </p:nvSpPr>
        <p:spPr>
          <a:xfrm>
            <a:off x="11430000" y="6217920"/>
            <a:ext cx="457200" cy="365760"/>
          </a:xfrm>
          <a:prstGeom prst="rect">
            <a:avLst/>
          </a:prstGeom>
          <a:noFill/>
        </p:spPr>
        <p:txBody>
          <a:bodyPr wrap="none">
            <a:spAutoFit/>
          </a:bodyPr>
          <a:lstStyle/>
          <a:p>
            <a:pPr>
              <a:defRPr sz="1400">
                <a:solidFill>
                  <a:srgbClr val="787878"/>
                </a:solidFil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